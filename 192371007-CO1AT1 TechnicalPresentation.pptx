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00200" y="2718494"/>
            <a:ext cx="8661082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sz="4800" b="1" i="0" u="none">
                <a:solidFill>
                  <a:srgbClr val="002D72"/>
                </a:solidFill>
                <a:latin typeface="Merriweather"/>
              </a:rPr>
              <a:t>Cloud Storage Technologies</a:t>
            </a:r>
            <a:endParaRPr sz="480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200" y="3678584"/>
            <a:ext cx="68484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1800" b="0" i="0" u="none">
                <a:solidFill>
                  <a:srgbClr val="475569"/>
                </a:solidFill>
                <a:latin typeface="Open Sans"/>
              </a:rPr>
              <a:t>An Analytical Comparison of Object, Block, and File Architectures</a:t>
            </a:r>
            <a:endParaRPr sz="1800" b="0" i="0" u="none">
              <a:solidFill>
                <a:srgbClr val="475569"/>
              </a:solidFill>
              <a:latin typeface="Open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36310" y="4601497"/>
            <a:ext cx="4021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DONE BY: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KAVIYA VARSHINI P S M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192371007</a:t>
            </a:r>
            <a:endParaRPr lang="en-IN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37703" y="562332"/>
            <a:ext cx="371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CSA1513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CLOUD COMPUTING</a:t>
            </a:r>
            <a:endParaRPr lang="en-IN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28650"/>
            <a:ext cx="52006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02D72"/>
                </a:solidFill>
                <a:latin typeface="Merriweather"/>
              </a:rPr>
              <a:t>The Data Deluge</a:t>
            </a:r>
            <a:endParaRPr sz="2850" b="1" i="0" u="none" dirty="0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1813520"/>
            <a:ext cx="4953000" cy="141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0" i="0" u="none" dirty="0">
                <a:solidFill>
                  <a:srgbClr val="334155"/>
                </a:solidFill>
                <a:latin typeface="Open Sans"/>
              </a:rPr>
              <a:t>The digital universe is expanding at an unprecedented rate. To handle massive data ingestion, rendering, and processing, cloud providers have engineered highly specific storage architectures.</a:t>
            </a:r>
            <a:endParaRPr sz="2000"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97" y="3429000"/>
            <a:ext cx="4953000" cy="141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0" i="0" u="none" dirty="0">
                <a:solidFill>
                  <a:srgbClr val="334155"/>
                </a:solidFill>
                <a:latin typeface="Open Sans"/>
              </a:rPr>
              <a:t>Choosing the right architecture is a critical business multiplier that dictates application performance, scalability limitations, and overall infrastructure capital expenditure.</a:t>
            </a:r>
            <a:endParaRPr sz="2000" b="0" i="0" u="none" dirty="0">
              <a:solidFill>
                <a:srgbClr val="334155"/>
              </a:solidFill>
              <a:latin typeface="Open San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7206"/>
            <a:ext cx="6667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165002"/>
            <a:ext cx="3429000" cy="34708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0" y="2165002"/>
            <a:ext cx="3429000" cy="34708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0" y="2165002"/>
            <a:ext cx="3429000" cy="34708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65002"/>
            <a:ext cx="3429000" cy="1905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2165002"/>
            <a:ext cx="34290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2165002"/>
            <a:ext cx="3429000" cy="190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The Three Pillars of Cloud Storage</a:t>
            </a:r>
            <a:endParaRPr sz="285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4260502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pen Sans"/>
              </a:rPr>
              <a:t>Block Storage</a:t>
            </a:r>
            <a:endParaRPr sz="1650" b="1" i="0" u="none">
              <a:solidFill>
                <a:srgbClr val="0F172A"/>
              </a:solidFill>
              <a:latin typeface="Ope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4660552"/>
            <a:ext cx="3429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 dirty="0">
                <a:solidFill>
                  <a:srgbClr val="334155"/>
                </a:solidFill>
                <a:latin typeface="Open Sans"/>
              </a:rPr>
              <a:t>Raw volumes split into fixed-size blocks. Engineered for absolute maximum speed and IOPS.</a:t>
            </a:r>
            <a:endParaRPr sz="1600"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1500" y="4260502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pen Sans"/>
              </a:rPr>
              <a:t>File Storage</a:t>
            </a:r>
            <a:endParaRPr sz="1650" b="1" i="0" u="none">
              <a:solidFill>
                <a:srgbClr val="0F172A"/>
              </a:solidFill>
              <a:latin typeface="Open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1500" y="4660552"/>
            <a:ext cx="3429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 dirty="0">
                <a:solidFill>
                  <a:srgbClr val="334155"/>
                </a:solidFill>
                <a:latin typeface="Open Sans"/>
              </a:rPr>
              <a:t>Hierarchical structure. Built for network sharing, concurrency, and human readability.</a:t>
            </a:r>
            <a:endParaRPr sz="1600"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91500" y="4260502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pen Sans"/>
              </a:rPr>
              <a:t>Object Storage</a:t>
            </a:r>
            <a:endParaRPr sz="1650" b="1" i="0" u="none">
              <a:solidFill>
                <a:srgbClr val="0F172A"/>
              </a:solidFill>
              <a:latin typeface="Open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1500" y="4660552"/>
            <a:ext cx="3429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 dirty="0">
                <a:solidFill>
                  <a:srgbClr val="334155"/>
                </a:solidFill>
                <a:latin typeface="Open Sans"/>
              </a:rPr>
              <a:t>Flat namespace with rich metadata. Designed for infinite horizontal scale via HTTP APIs.</a:t>
            </a:r>
            <a:endParaRPr sz="1600" b="0" i="0" u="none" dirty="0">
              <a:solidFill>
                <a:srgbClr val="334155"/>
              </a:solidFill>
              <a:latin typeface="Open Sans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74527"/>
            <a:ext cx="3409950" cy="1885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25" y="2174527"/>
            <a:ext cx="3409950" cy="1885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025" y="2174527"/>
            <a:ext cx="340995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0" y="1900237"/>
            <a:ext cx="5238750" cy="4000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Architecture: Block Storage</a:t>
            </a:r>
            <a:endParaRPr sz="285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1909762"/>
            <a:ext cx="5219700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4875" y="17668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Direct Attachment: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Operates like a physical hard drive (SAN) attached directly to a single compute instance (VM).</a:t>
            </a:r>
            <a:endParaRPr sz="150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4875" y="29098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Chunking Data: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Files are broken down into evenly sized blocks, each with a unique identifier, with no metadata attached.</a:t>
            </a:r>
            <a:endParaRPr sz="150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4875" y="40528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Low Latency Paths: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Lacking OS overhead for file systems, data retrieval is incredibly fast, allowing for sub-millisecond latency.</a:t>
            </a:r>
            <a:endParaRPr sz="150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4875" y="5195887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OS Formatting: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The guest operating system mounts the block volume and formats it (e.g., ext4, NTFS).</a:t>
            </a:r>
            <a:endParaRPr sz="150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18049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  <a:endParaRPr sz="1050" b="0" i="0" u="none">
              <a:solidFill>
                <a:srgbClr val="002D72"/>
              </a:solidFill>
              <a:latin typeface="Ope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29479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  <a:endParaRPr sz="1050" b="0" i="0" u="none">
              <a:solidFill>
                <a:srgbClr val="002D72"/>
              </a:solidFill>
              <a:latin typeface="Open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40909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  <a:endParaRPr sz="1050" b="0" i="0" u="none">
              <a:solidFill>
                <a:srgbClr val="002D72"/>
              </a:solidFill>
              <a:latin typeface="Open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500" y="52339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  <a:endParaRPr sz="1050" b="0" i="0" u="none">
              <a:solidFill>
                <a:srgbClr val="002D72"/>
              </a:solidFill>
              <a:latin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431702"/>
            <a:ext cx="3492549" cy="29374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99" y="2431702"/>
            <a:ext cx="3492549" cy="29374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99" y="2431702"/>
            <a:ext cx="3492549" cy="29374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Block Storage: Primary Workloads</a:t>
            </a:r>
            <a:endParaRPr sz="285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775" y="3603277"/>
            <a:ext cx="30470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pen Sans"/>
              </a:rPr>
              <a:t>Transactional Databases</a:t>
            </a:r>
            <a:endParaRPr sz="1500" b="1" i="0" u="none">
              <a:solidFill>
                <a:srgbClr val="0F172A"/>
              </a:solidFill>
              <a:latin typeface="Ope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400332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Relational databases (SQL, Oracle) demand the high IOPS and low latency that only block provides.</a:t>
            </a:r>
            <a:endParaRPr sz="135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5074" y="3603277"/>
            <a:ext cx="30470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pen Sans"/>
              </a:rPr>
              <a:t>Boot Volumes</a:t>
            </a:r>
            <a:endParaRPr sz="1500" b="1" i="0" u="none">
              <a:solidFill>
                <a:srgbClr val="0F172A"/>
              </a:solidFill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5074" y="400332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Virtual machines require block storage to boot operating systems rapidly in cloud environments.</a:t>
            </a:r>
            <a:endParaRPr sz="135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23374" y="3603277"/>
            <a:ext cx="30470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pen Sans"/>
              </a:rPr>
              <a:t>Mission Critical Apps</a:t>
            </a:r>
            <a:endParaRPr sz="1500" b="1" i="0" u="none">
              <a:solidFill>
                <a:srgbClr val="0F172A"/>
              </a:solidFill>
              <a:latin typeface="Open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23374" y="400332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Enterprise applications requiring strict performance SLAs leverage dedicated IOPS block volumes.</a:t>
            </a:r>
            <a:endParaRPr sz="1350" b="0" i="0" u="none">
              <a:solidFill>
                <a:srgbClr val="334155"/>
              </a:solidFill>
              <a:latin typeface="Open San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927002"/>
            <a:ext cx="333375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074" y="2927002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374" y="2927002"/>
            <a:ext cx="33337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Architecture: File Storage</a:t>
            </a:r>
            <a:endParaRPr sz="285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875" y="1919287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Hierarchical Tree: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Data is organized into a rigid structure of directories, folders, and sub-folders.</a:t>
            </a:r>
            <a:endParaRPr sz="150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4875" y="2757487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Network Access: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Attached over a network (NAS) rather than directly to the motherboard interface.</a:t>
            </a:r>
            <a:endParaRPr sz="150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4875" y="35956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Standard Protocols: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Utilizes standard protocols like NFS (Network File System) or SMB (Server Message Block).</a:t>
            </a:r>
            <a:endParaRPr sz="150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4875" y="47386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Multi-Instance Concurrency: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Allows thousands of virtual machines to read/write simultaneously with file locking.</a:t>
            </a:r>
            <a:endParaRPr sz="150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19573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  <a:endParaRPr sz="1050" b="0" i="0" u="none">
              <a:solidFill>
                <a:srgbClr val="002D72"/>
              </a:solidFill>
              <a:latin typeface="Ope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27955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  <a:endParaRPr sz="1050" b="0" i="0" u="none">
              <a:solidFill>
                <a:srgbClr val="002D72"/>
              </a:solidFill>
              <a:latin typeface="Open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36337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  <a:endParaRPr sz="1050" b="0" i="0" u="none">
              <a:solidFill>
                <a:srgbClr val="002D72"/>
              </a:solidFill>
              <a:latin typeface="Open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500" y="47767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  <a:endParaRPr sz="1050" b="0" i="0" u="none">
              <a:solidFill>
                <a:srgbClr val="002D72"/>
              </a:solidFill>
              <a:latin typeface="Open San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250" y="114300"/>
            <a:ext cx="6362700" cy="6734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28650"/>
            <a:ext cx="5200650" cy="895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Architecture: Object Storage</a:t>
            </a:r>
            <a:endParaRPr sz="285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722364"/>
            <a:ext cx="4953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The Flat Namespace: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Object storage abandons the complex hierarchy of file storage and the raw chunks of block storage.</a:t>
            </a:r>
            <a:endParaRPr sz="1350" b="0" i="0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3423344"/>
            <a:ext cx="4953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Open Sans"/>
              </a:rPr>
              <a:t>Data is bundled with extensive, customizable metadata and a globally unique identifier, dropped into a massive, flat bucket.</a:t>
            </a:r>
            <a:endParaRPr sz="1350" b="0" i="0" u="none" dirty="0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398615"/>
            <a:ext cx="4953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API-Driven: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It is not mounted by an OS. Applications retrieve objects directly over the internet using standard HTTP REST APIs (GET, PUT, DELETE), enabling virtually infinite scalability.</a:t>
            </a:r>
            <a:endParaRPr sz="1350" b="0" i="0" u="none">
              <a:solidFill>
                <a:srgbClr val="334155"/>
              </a:solidFill>
              <a:latin typeface="Open San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Architectural Comparison Matrix</a:t>
            </a:r>
            <a:endParaRPr sz="285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901279"/>
          <a:ext cx="11039473" cy="399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702"/>
                <a:gridCol w="2994273"/>
                <a:gridCol w="3265437"/>
                <a:gridCol w="2729061"/>
              </a:tblGrid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Metric</a:t>
                      </a:r>
                      <a:endParaRPr sz="1350" b="1" i="0" u="none">
                        <a:solidFill>
                          <a:srgbClr val="0F172A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Block Storage</a:t>
                      </a:r>
                      <a:endParaRPr sz="1350" b="1" i="0" u="none">
                        <a:solidFill>
                          <a:srgbClr val="0F172A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File Storage</a:t>
                      </a:r>
                      <a:endParaRPr sz="1350" b="1" i="0" u="none">
                        <a:solidFill>
                          <a:srgbClr val="0F172A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Object Storage</a:t>
                      </a:r>
                      <a:endParaRPr sz="1350" b="1" i="0" u="none">
                        <a:solidFill>
                          <a:srgbClr val="0F172A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Structure</a:t>
                      </a:r>
                      <a:endParaRPr sz="1350" b="1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Raw volumes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Hierarchical (Tree)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Flat (Buckets)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Metadata</a:t>
                      </a:r>
                      <a:endParaRPr sz="1350" b="1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None (OS dependent)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Limited (Creation date)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Rich &amp; Customizable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Accessibility</a:t>
                      </a:r>
                      <a:endParaRPr sz="1350" b="1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Single attached instance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Network shared (NFS)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HTTP/REST API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Updates</a:t>
                      </a:r>
                      <a:endParaRPr sz="1350" b="1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Edit partial blocks directly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Edit file components directly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Overwrite entire object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66406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Primary Driver</a:t>
                      </a:r>
                      <a:endParaRPr sz="1350" b="1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Absolute Performance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Shared Accessibility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Infinite Scalability</a:t>
                      </a:r>
                      <a:endParaRPr sz="1350" b="0" i="0" u="none">
                        <a:solidFill>
                          <a:srgbClr val="334155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2561332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26965" y="2561332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1238" y="2561332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86676" y="2561332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262" y="3226147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26965" y="3226147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21238" y="3226147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86676" y="3226147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262" y="3890962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6965" y="3890962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1238" y="3890962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86676" y="3890962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262" y="4555777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6965" y="4555777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1238" y="4555777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6676" y="4555777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262" y="5220592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26965" y="5220592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21238" y="5220592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6676" y="5220592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19225"/>
            <a:ext cx="11049000" cy="49625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The Catalyst for Object Storage</a:t>
            </a:r>
            <a:endParaRPr sz="285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5593109"/>
            <a:ext cx="11049000" cy="55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1" u="none">
                <a:solidFill>
                  <a:srgbClr val="334155"/>
                </a:solidFill>
                <a:latin typeface="Open Sans"/>
              </a:rPr>
              <a:t>The massive proliferation of unstructured data cannot be cost-effectively managed by Block or File architectures, cementing Object storage as the modern standard.</a:t>
            </a:r>
            <a:endParaRPr sz="1350" b="0" i="1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500" y="5402609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19225"/>
            <a:ext cx="11049000" cy="49625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Cost Efficiency vs Scalability Index</a:t>
            </a:r>
            <a:endParaRPr sz="2850" b="1" i="0" u="none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773959"/>
            <a:ext cx="11049000" cy="55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1" u="none">
                <a:solidFill>
                  <a:srgbClr val="334155"/>
                </a:solidFill>
                <a:latin typeface="Open Sans"/>
              </a:rPr>
              <a:t>While Block storage is essential for high-speed computation, its cost per GB makes it prohibitive for deep archiving. Object storage provides the economics for mass retention.</a:t>
            </a:r>
            <a:endParaRPr sz="1350" b="0" i="1" u="none">
              <a:solidFill>
                <a:srgbClr val="334155"/>
              </a:solidFill>
              <a:latin typeface="Open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500" y="4583459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150"/>
            <a:ext cx="12192000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WhatsApp Image 2026-07-22 at 9.50.4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443990"/>
            <a:ext cx="8915400" cy="46882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297940" y="307975"/>
            <a:ext cx="6728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GEOTAG:</a:t>
            </a:r>
            <a:endParaRPr lang="en-US" sz="2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3484</Words>
  <Application>WPS Presentation</Application>
  <PresentationFormat>Widescreen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Merriweather</vt:lpstr>
      <vt:lpstr>Segoe Print</vt:lpstr>
      <vt:lpstr>Open Sans</vt:lpstr>
      <vt:lpstr>Arial Black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kaviyavarshini s</cp:lastModifiedBy>
  <cp:revision>8</cp:revision>
  <dcterms:created xsi:type="dcterms:W3CDTF">2013-01-27T09:14:00Z</dcterms:created>
  <dcterms:modified xsi:type="dcterms:W3CDTF">2026-07-22T05:38:56Z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F68FC99826564BD99B529C2240DA0468_13</vt:lpwstr>
  </property>
  <property fmtid="{D5CDD505-2E9C-101B-9397-08002B2CF9AE}" pid="3" name="KSOProductBuildVer">
    <vt:lpwstr>1033-12.1.0.27458</vt:lpwstr>
  </property>
</Properties>
</file>